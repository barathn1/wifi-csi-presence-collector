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286000"/>
            <a:ext cx="109728" cy="173736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40280"/>
            <a:ext cx="10058400" cy="3657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9EC5F4"/>
                </a:solidFill>
                <a:latin typeface="Segoe UI"/>
              </a:rPr>
              <a:t>WIFI-CSI PRESENCE COLLECTOR — MAIN BRANCH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606040"/>
            <a:ext cx="10515600" cy="1463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The Actual Shipped Model:</a:t>
            </a:r>
          </a:p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WhoFi Transformer + Empty-Room Calibration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60520"/>
            <a:ext cx="9601200" cy="8229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500" b="0">
                <a:solidFill>
                  <a:srgbClr val="C3C2B7"/>
                </a:solidFill>
                <a:latin typeface="Segoe UI"/>
              </a:rPr>
              <a:t>Not the Random Forest “home model” and not the Signature+EVM open-set experiment — both of</a:t>
            </a:r>
          </a:p>
          <a:p>
            <a:pPr algn="l"/>
            <a:r>
              <a:rPr sz="1500" b="0">
                <a:solidFill>
                  <a:srgbClr val="C3C2B7"/>
                </a:solidFill>
                <a:latin typeface="Segoe UI"/>
              </a:rPr>
              <a:t>those are later, uncommitted work. This is what's actually merged into main.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035040"/>
            <a:ext cx="9144000" cy="3657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100" b="0">
                <a:solidFill>
                  <a:srgbClr val="898781"/>
                </a:solidFill>
                <a:latin typeface="Segoe UI"/>
              </a:rPr>
              <a:t>ml/models/transformer_whofi.py — train_final_model.py / train_day3_ch6_model.py — live_infer.py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WiFi-CSI Presence Collector — Main-Branch Model (WhoFi Transformer)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82296" cy="77724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22960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  <a:latin typeface="Segoe U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943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Segoe UI"/>
              </a:rPr>
              <a:t>What's actually on main: one transformer, four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0B0B0B"/>
                </a:solidFill>
                <a:latin typeface="Segoe UI"/>
              </a:rPr>
              <a:t>•  Model: WhoFiTransformer — a replica of WhoFi (arXiv:2507.12869): 1-layer transformer over amplitude only, mean-pooled, L2-normalized, then a linear classifier head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0B0B0B"/>
                </a:solidFill>
                <a:latin typeface="Segoe UI"/>
              </a:rPr>
              <a:t>•  Trained independently as a plain closed-set classifier for each of 4 binary tasks (cross-entropy loss, not contrastive) — there is no open-set / EVM layer on main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52514E"/>
                </a:solidFill>
                <a:latin typeface="Segoe UI"/>
              </a:rPr>
              <a:t>–  task0_presence: EMPTY vs OCCUPIED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52514E"/>
                </a:solidFill>
                <a:latin typeface="Segoe UI"/>
              </a:rPr>
              <a:t>–  taskD_auth_vs_nonauth: NOT AUTHORIZED vs AUTHORIZED  (the “auth gate”)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52514E"/>
                </a:solidFill>
                <a:latin typeface="Segoe UI"/>
              </a:rPr>
              <a:t>–  taskE_motion_standing_vs_walking: STANDING vs WALKING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52514E"/>
                </a:solidFill>
                <a:latin typeface="Segoe UI"/>
              </a:rPr>
              <a:t>–  taskB_identity (legacy, ANJALI vs BARATH): kept because it was asked for, but tested BELOW CHANCE cross-day (AUROC 0.20–0.31) — live_infer.py marks it experimental/unreliable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0B0B0B"/>
                </a:solidFill>
                <a:latin typeface="Segoe UI"/>
              </a:rPr>
              <a:t>•  Preprocessing: per-day empty-room self-calibration (“calibA”) — z-score every window against that day's own quiet-room baseline before the transformer ever sees it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0B0B0B"/>
                </a:solidFill>
                <a:latin typeface="Segoe UI"/>
              </a:rPr>
              <a:t>•  Trained on ALL of Day1+Day2 pooled data, no held-out split — Day3 live testing is the real test (train_day3_ch6_model.py later added its own Day3+Day4-only checkpoint track)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0B0B0B"/>
                </a:solidFill>
                <a:latin typeface="Segoe UI"/>
              </a:rPr>
              <a:t>•  Served by ml/inference/live_infer.py: live calibration → rolling 200-packet windows → per-task prediction → ~30s rolling aggregate, which is the number to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WiFi-CSI Presence Collector — Main-Branch Model (WhoFi Transformer)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82296" cy="77724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22960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  <a:latin typeface="Segoe UI"/>
              </a:rPr>
              <a:t>FLOWCHART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943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Segoe UI"/>
              </a:rPr>
              <a:t>Raw packets → preprocessing → transformer → live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8067" y="114300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11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Raw CSI packet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ragged csi_len, per-802.11-frame-type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44187" y="1485900"/>
            <a:ext cx="228600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472787" y="114300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1BAF7A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Decode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amp=hypot(re,im)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phase=atan2(im,re)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18907" y="1485900"/>
            <a:ext cx="228600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947507" y="114300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1BAF7A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Subcarrier resample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Day1 186-sub, Day2 128-sub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→ shared 128-sub grid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5847.5" y="1828800"/>
            <a:ext cx="0.0" cy="18288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8067" y="2194560"/>
            <a:ext cx="3246120" cy="777240"/>
          </a:xfrm>
          <a:prstGeom prst="roundRect">
            <a:avLst>
              <a:gd name="adj" fmla="val 6000"/>
            </a:avLst>
          </a:prstGeom>
          <a:solidFill>
            <a:srgbClr val="EB6834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calibA calibration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z = (x − μ_empty_day) / σ_empty_day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amplitude + phase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44187" y="2583180"/>
            <a:ext cx="228600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72787" y="2194560"/>
            <a:ext cx="3246120" cy="777240"/>
          </a:xfrm>
          <a:prstGeom prst="roundRect">
            <a:avLst>
              <a:gd name="adj" fmla="val 6000"/>
            </a:avLst>
          </a:prstGeom>
          <a:solidFill>
            <a:srgbClr val="EB6834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Windowing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200-packet window,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100-packet stride (50% overlap)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18907" y="2583180"/>
            <a:ext cx="228600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947507" y="2194560"/>
            <a:ext cx="3246120" cy="77724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WhoFiTransformer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1-layer self-attention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→ 32-d embedding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5847.5" y="2971800"/>
            <a:ext cx="0.0" cy="18288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98067" y="3291840"/>
            <a:ext cx="1019556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ctr"/>
            <a:r>
              <a:rPr sz="1250" b="0">
                <a:solidFill>
                  <a:srgbClr val="52514E"/>
                </a:solidFill>
                <a:latin typeface="Segoe UI"/>
              </a:rPr>
              <a:t>4 independent linear classifier heads (one per task, same shared architecture)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2327" y="3611880"/>
            <a:ext cx="2514600" cy="64008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0B0B"/>
                </a:solidFill>
                <a:latin typeface="Segoe UI"/>
              </a:rPr>
              <a:t>Presence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EMPTY / OCCUPIED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89807" y="3611880"/>
            <a:ext cx="2514600" cy="64008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0B0B"/>
                </a:solidFill>
                <a:latin typeface="Segoe UI"/>
              </a:rPr>
              <a:t>Auth gate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AUTH / NOT AUTH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7287" y="3611880"/>
            <a:ext cx="2514600" cy="64008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0B0B"/>
                </a:solidFill>
                <a:latin typeface="Segoe UI"/>
              </a:rPr>
              <a:t>Motion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STAND / WALK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4767" y="3611880"/>
            <a:ext cx="2514600" cy="64008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8987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0B0B"/>
                </a:solidFill>
                <a:latin typeface="Segoe UI"/>
              </a:rPr>
              <a:t>Identity*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ANJALI / BARATH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5847.5" y="4251960"/>
            <a:ext cx="0.0" cy="18288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98067" y="4480560"/>
            <a:ext cx="10195560" cy="50292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11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Live: ~30s rolling aggregate across overlapping windows — the number to trust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8067" y="5120640"/>
            <a:ext cx="1019556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ctr"/>
            <a:r>
              <a:rPr sz="1050" b="0">
                <a:solidFill>
                  <a:srgbClr val="898781"/>
                </a:solidFill>
                <a:latin typeface="Segoe UI"/>
              </a:rPr>
              <a:t>* taskB identity tested below chance cross-day — shown for completeness, not trusted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WiFi-CSI Presence Collector — Main-Branch Model (WhoFi Transformer)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82296" cy="77724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22960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  <a:latin typeface="Segoe UI"/>
              </a:rPr>
              <a:t>RAW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943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Segoe UI"/>
              </a:rPr>
              <a:t>Decoding the ragged CSI wire 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samples.npz stores CSI as a flat, ragged buffer — csi_len varies by 802.11 frame type (legacy/HT, 20/40 MHz), so packets are bucketed by csi_len before decoding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Each subcarrier is one (imag, real) int8 pair; decode is vectorized per bucket (gather + reshape), not a per-packet Python loop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amplitude = hypot(real, imag) = sqrt(real² + imag²)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phase = arctan2(imag, real)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Day 1 sessions negotiated 40 MHz → dominant bucket is 186 subcarriers (372 bytes)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Day 2 (and Day 3) sessions negotiated 20 MHz → dominant bucket is 128 subcarriers (256 bytes)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Only the per-session dominant csi_len bucket is kept (~1–6% of minority-shape packets dropped) so every window has one consistent subcarrier count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4937760" cy="448056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417320"/>
            <a:ext cx="438912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350" b="1">
                <a:solidFill>
                  <a:srgbClr val="0B0B0B"/>
                </a:solidFill>
                <a:latin typeface="Segoe UI"/>
              </a:rPr>
              <a:t>Shape mismatch across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874519"/>
            <a:ext cx="2011680" cy="777240"/>
          </a:xfrm>
          <a:prstGeom prst="roundRect">
            <a:avLst>
              <a:gd name="adj" fmla="val 6000"/>
            </a:avLst>
          </a:prstGeom>
          <a:solidFill>
            <a:srgbClr val="4A3AA7"/>
          </a:solidFill>
          <a:ln w="15875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Day 1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40 MHz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186 subcarriers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874519"/>
            <a:ext cx="2011680" cy="777240"/>
          </a:xfrm>
          <a:prstGeom prst="roundRect">
            <a:avLst>
              <a:gd name="adj" fmla="val 6000"/>
            </a:avLst>
          </a:prstGeom>
          <a:solidFill>
            <a:srgbClr val="1BAF7A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Day 2 / Day 3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20 MHz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128 subcarriers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0" y="2651760"/>
            <a:ext cx="1097280" cy="59436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052560" y="2651760"/>
            <a:ext cx="914400" cy="59436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040880" y="3291840"/>
            <a:ext cx="3657600" cy="68580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resample onto shared 128-sub grid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downsample Day1 only — never fabricate Day2's missing resolution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297680"/>
            <a:ext cx="4389120" cy="12801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250" b="0">
                <a:solidFill>
                  <a:srgbClr val="52514E"/>
                </a:solidFill>
                <a:latin typeface="Segoe UI"/>
              </a:rPr>
              <a:t>Why 128, not 186: resampling always shrinks toward the smaller native width so both days become shape-compatible for one shared model — upsampling Day 2 would invent detail the hardware never captured.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WiFi-CSI Presence Collector — Main-Branch Model (WhoFi Transformer)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82296" cy="777240"/>
          </a:xfrm>
          <a:prstGeom prst="roundRect">
            <a:avLst>
              <a:gd name="adj" fmla="val 6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22960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EB6834"/>
                </a:solidFill>
                <a:latin typeface="Segoe UI"/>
              </a:rPr>
              <a:t>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943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Segoe UI"/>
              </a:rPr>
              <a:t>calibA — per-day empty-room self-calibration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698480" cy="123444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98448"/>
            <a:ext cx="1005840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350" b="1">
                <a:solidFill>
                  <a:srgbClr val="0B0B0B"/>
                </a:solidFill>
                <a:latin typeface="Segoe UI"/>
              </a:rPr>
              <a:t>Per subcarrier, applied to both amplitude and phase: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058400" cy="64008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2A78D6"/>
                </a:solidFill>
                <a:latin typeface="Segoe UI"/>
              </a:rPr>
              <a:t>x' = ( x − μ_empty ) / ( σ_empty + ε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μ_empty, σ_empty are fit once per day from that day's own “none” (empty-room) sessions — amplitude and phase each get their own per-subcarrier mean/std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Why per-day, not global: this is the direct analog of OpenCSI's Z-score approach (arXiv:2607.26665), which reported F1 0.99 vs 0.87 for cross-room/cross-hardware transfer on ESP32 — tested here for person-ID/auth for the first time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Live inference computes the same baseline on the fly: a 15s “stand outside the room” calibration phase at the start of every session (ml/inference/live_calibration.py), reusing the exact same DayBaseline math and apply_variant_a() function as the offline training pipeline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Two alternatives were tried and NOT used as the default: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52514E"/>
                </a:solidFill>
                <a:latin typeface="Segoe UI"/>
              </a:rPr>
              <a:t>–  Variant B (cross-day re-referencing onto a fixed reference day) — underperforms calibA, likely because it assumes the empty-vs-occupied relationship transforms identically across days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52514E"/>
                </a:solidFill>
                <a:latin typeface="Segoe UI"/>
              </a:rPr>
              <a:t>–  ℓ₁ per-packet gain normalization — implemented and unit-tested, not yet run through the full sweep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Net effect measured (see results slide): calibA trades some raw AUROC for a much lower false-accept rate against a genuine stranger — the metric that actually matters for the auth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WiFi-CSI Presence Collector — Main-Branch Model (WhoFi Transformer)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82296" cy="777240"/>
          </a:xfrm>
          <a:prstGeom prst="roundRect">
            <a:avLst>
              <a:gd name="adj" fmla="val 6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22960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EB6834"/>
                </a:solidFill>
                <a:latin typeface="Segoe UI"/>
              </a:rPr>
              <a:t>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943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Segoe UI"/>
              </a:rPr>
              <a:t>Windowing — turning a packet stream into fixed-size inputs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5167" y="1554480"/>
            <a:ext cx="2514600" cy="11887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0B0B"/>
                </a:solidFill>
                <a:latin typeface="Segoe UI"/>
              </a:rPr>
              <a:t>Calibrated stream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(N packets, 128 subcarriers)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amplitude + phase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69767" y="2148840"/>
            <a:ext cx="274320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44087" y="1554480"/>
            <a:ext cx="2514600" cy="11887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0B0B"/>
                </a:solidFill>
                <a:latin typeface="Segoe UI"/>
              </a:rPr>
              <a:t>Slide a window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window_packets = 200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(~1s at ~200Hz observed rate)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58687" y="2148840"/>
            <a:ext cx="274320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233007" y="1554480"/>
            <a:ext cx="2514600" cy="11887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0B0B"/>
                </a:solidFill>
                <a:latin typeface="Segoe UI"/>
              </a:rPr>
              <a:t>Stride forward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stride_packets = 100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(50% overlap)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47607" y="2148840"/>
            <a:ext cx="274320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021927" y="1554480"/>
            <a:ext cx="2514600" cy="11887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0B0B"/>
                </a:solidFill>
                <a:latin typeface="Segoe UI"/>
              </a:rPr>
              <a:t>Model input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(200, 128)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per window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106984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Observed packet rate on the dominant bucket: 162–263 Hz (mean ~217 Hz) across Day1 sessions — so 200 packets is close to a 1-second window, matching the ESP32 person-ID paper's convention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The live rolling windower (ml/inference/live_window.py) mirrors this exactly, so a live window is the same shape a checkpoint was trained on — the very first window is ready as soon as the buffer first fills, not after one extra stride's delay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Per-session caching avoids re-decoding: each session's dominant-bucket arrays are decoded once and memory-mapped, so building thousands of overlapping windows stays cheap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train_day3_ch6_model.py's later checkpoint track adds one more step before windowing: bin-average resampling of the TIME axis onto a common packet rate, to stop window duration from correlating with whichever label happened to be recorded at a different network congestion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WiFi-CSI Presence Collector — Main-Branch Model (WhoFi Transformer)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82296" cy="77724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22960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  <a:latin typeface="Segoe UI"/>
              </a:rPr>
              <a:t>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943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Segoe UI"/>
              </a:rPr>
              <a:t>WhoFiTransformer — single amplitude branch + linear head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5120640" cy="566928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Input: amplitude (B, T=200, S=128)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.0" y="1709928"/>
            <a:ext cx="0.0" cy="128016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" y="1837944"/>
            <a:ext cx="5120640" cy="566928"/>
          </a:xfrm>
          <a:prstGeom prst="roundRect">
            <a:avLst>
              <a:gd name="adj" fmla="val 6000"/>
            </a:avLst>
          </a:prstGeom>
          <a:solidFill>
            <a:srgbClr val="1BAF7A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BranchEncoder: Linear 128→32 + positional encoding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91840.0" y="2404872"/>
            <a:ext cx="0.0" cy="128016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" y="2532888"/>
            <a:ext cx="5120640" cy="777240"/>
          </a:xfrm>
          <a:prstGeom prst="roundRect">
            <a:avLst>
              <a:gd name="adj" fmla="val 6000"/>
            </a:avLst>
          </a:prstGeom>
          <a:solidFill>
            <a:srgbClr val="EB6834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Transformer encoder × 1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(self-attn → Add&amp;Norm → FFN → Add&amp;Norm)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91840.0" y="3310128"/>
            <a:ext cx="0.0" cy="128016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" y="3438144"/>
            <a:ext cx="5120640" cy="566928"/>
          </a:xfrm>
          <a:prstGeom prst="roundRect">
            <a:avLst>
              <a:gd name="adj" fmla="val 6000"/>
            </a:avLst>
          </a:prstGeom>
          <a:solidFill>
            <a:srgbClr val="4A3AA7"/>
          </a:solidFill>
          <a:ln w="15875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Mean-pool over time → (B, 32)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91840.0" y="4005072"/>
            <a:ext cx="0.0" cy="128016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" y="4133088"/>
            <a:ext cx="5120640" cy="566928"/>
          </a:xfrm>
          <a:prstGeom prst="roundRect">
            <a:avLst>
              <a:gd name="adj" fmla="val 6000"/>
            </a:avLst>
          </a:prstGeom>
          <a:solidFill>
            <a:srgbClr val="4A3AA7"/>
          </a:solidFill>
          <a:ln w="15875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signature_module: Linear 32→32, L2-normalize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91840.0" y="4700016"/>
            <a:ext cx="0.0" cy="128016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" y="4828032"/>
            <a:ext cx="5120640" cy="566928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classifier: Linear 32→n_classes  (per task)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91840.0" y="5394960"/>
            <a:ext cx="0.0" cy="128016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" y="5522976"/>
            <a:ext cx="5120640" cy="566928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11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Output: logits (B, n_classes)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143000"/>
            <a:ext cx="5257800" cy="512064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280160"/>
            <a:ext cx="4709160" cy="3657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450" b="1">
                <a:solidFill>
                  <a:srgbClr val="0B0B0B"/>
                </a:solidFill>
                <a:latin typeface="Segoe UI"/>
              </a:rPr>
              <a:t>Notes on this exact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691640"/>
            <a:ext cx="4709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0B0B0B"/>
                </a:solidFill>
                <a:latin typeface="Segoe UI"/>
              </a:rPr>
              <a:t>•  Amplitude only, no phase branch — matches WhoFi's own published design; phase is accepted by forward() for a uniform call signature across the model zoo but is otherwise ignored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0B0B0B"/>
                </a:solidFill>
                <a:latin typeface="Segoe UI"/>
              </a:rPr>
              <a:t>•  d_model=32, 4 heads, d_ff=64, 1 layer — WhoFi's own ablation found 3 layers unstable/worse on a dataset this small, so the shallow config is the deliberate winner, not a placeholder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0B0B0B"/>
                </a:solidFill>
                <a:latin typeface="Segoe UI"/>
              </a:rPr>
              <a:t>•  signature_module (Linear 32→32 + L2-normalize) produces an embedding shaped like a verification “signature”, but on main it feeds straight into a plain linear classifier — there's no contrastive loss or EVM open-set layer wired up here (that's the later, uncommitted signature+EVM experiment)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0B0B0B"/>
                </a:solidFill>
                <a:latin typeface="Segoe UI"/>
              </a:rPr>
              <a:t>•  One separate model instance is trained per task (presence / auth / motion / identity) — same architecture and hyperparameters, four independent checkpoints, not a shared multi-head model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0B0B0B"/>
                </a:solidFill>
                <a:latin typeface="Segoe UI"/>
              </a:rPr>
              <a:t>•  classifier is a single nn.Linear(32, n_classes) — as simple as the architecture gets after the transformer; all the representational work happens in the 1-layer encoder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WiFi-CSI Presence Collector — Main-Branch Model (WhoFi Transformer)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82296" cy="77724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22960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  <a:latin typeface="Segoe UI"/>
              </a:rPr>
              <a:t>TRANSFORMER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943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Segoe UI"/>
              </a:rPr>
              <a:t>Scaled dot-product multi-head self-attention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698480" cy="173736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1005840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Segoe UI"/>
              </a:rPr>
              <a:t>Per head: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058400" cy="5029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2000" b="1">
                <a:solidFill>
                  <a:srgbClr val="2A78D6"/>
                </a:solidFill>
                <a:latin typeface="Segoe UI"/>
              </a:rPr>
              <a:t>Attention(Q, K, V) = softmax( Q Kᵀ / √d_k ) 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Segoe UI"/>
              </a:rPr>
              <a:t>Q, K, V are learned linear projections of the 32-dim per-packet token sequence; d_k = d_model / n_heads = 32 / 4 = 8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Each of the 200 packets in a window becomes one 32-dim token via the input projection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4 heads run attention in parallel, then concatenate — each head can latch onto different subcarrier/time relationships across the window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Post-LN block structure (this repo's default):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52514E"/>
                </a:solidFill>
                <a:latin typeface="Segoe UI"/>
              </a:rPr>
              <a:t>–  x = LayerNorm( x + Dropout( SelfAttention(x) ) )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52514E"/>
                </a:solidFill>
                <a:latin typeface="Segoe UI"/>
              </a:rPr>
              <a:t>–  x = LayerNorm( x + Dropout( FFN(x) )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3108960"/>
            <a:ext cx="5166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Sinusoidal positional encoding, added elementwise to the projected input: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52514E"/>
                </a:solidFill>
                <a:latin typeface="Segoe UI"/>
              </a:rPr>
              <a:t>–  PE(pos, 2i)   = sin( pos / 10000^(2i/d_model) )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52514E"/>
                </a:solidFill>
                <a:latin typeface="Segoe UI"/>
              </a:rPr>
              <a:t>–  PE(pos, 2i+1) = cos( pos / 10000^(2i/d_model) 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Mean-pool collapses the 200 refined tokens to one (B, 32) vector per window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L2-normalize (signature_module output): s = z / ‖z‖₂ → ‖s‖ = 1 — used here only as an internal representation before the linear classifier, not for distance-based matching (no EVM on main)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WiFi-CSI Presence Collector — Main-Branch Model (WhoFi Transformer)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82296" cy="777240"/>
          </a:xfrm>
          <a:prstGeom prst="roundRect">
            <a:avLst>
              <a:gd name="adj" fmla="val 6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22960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EB6834"/>
                </a:solidFill>
                <a:latin typeface="Segoe UI"/>
              </a:rP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943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Segoe UI"/>
              </a:rPr>
              <a:t>Four independent binary classifiers, one recipe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>
                <a:solidFill>
                  <a:srgbClr val="0B0B0B"/>
                </a:solidFill>
                <a:latin typeface="Segoe UI"/>
              </a:rPr>
              <a:t>•  Loss: plain torch.nn.CrossEntropyLoss — closed-set classification, not contrastive/in-batch-negative (that loss exists in ml/training/losses.py but is not what trains the shipped checkpoints)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>
                <a:solidFill>
                  <a:srgbClr val="0B0B0B"/>
                </a:solidFill>
                <a:latin typeface="Segoe UI"/>
              </a:rPr>
              <a:t>•  Optimizer: Adam, lr=1e-3, batch_size=64, seed fixed and logged per run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52514E"/>
                </a:solidFill>
                <a:latin typeface="Segoe UI"/>
              </a:rPr>
              <a:t>–  Why the seed matters: re-training the SAME model on the SAME fold gave wildly different results (taskD fold 1: AUROC 0.757 vs 0.698, false-accept-unauthorized 26% vs 57%, across two otherwise-identical runs) — on a dataset this small with only a handful of epochs, seed variance can be as large as the effect being measured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>
                <a:solidFill>
                  <a:srgbClr val="0B0B0B"/>
                </a:solidFill>
                <a:latin typeface="Segoe UI"/>
              </a:rPr>
              <a:t>•  Deployable checkpoints (train_final_model.py): trained on ALL Day1+Day2 pooled data, the SAME dataset passed as both train and test — deliberate, not an oversight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52514E"/>
                </a:solidFill>
                <a:latin typeface="Segoe UI"/>
              </a:rPr>
              <a:t>–  The printed accuracy is an in-sample sanity check only, never a generalization estimate — carving out an internal validation slice would reintroduce the 50%-overlapping-window leakage problem session-disjoint splitting exists to prevent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52514E"/>
                </a:solidFill>
                <a:latin typeface="Segoe UI"/>
              </a:rPr>
              <a:t>–  Day 3, tested live via live_infer.py, is the real held-out test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>
                <a:solidFill>
                  <a:srgbClr val="0B0B0B"/>
                </a:solidFill>
                <a:latin typeface="Segoe UI"/>
              </a:rPr>
              <a:t>•  Later track (train_day3_ch6_model.py): honest numbers come FIRST — leave-one-unauthorized-person-out for the auth task, session-disjoint 80/20 for presence/motion — THEN a final checkpoint is retrained on 100% of that track's data, so the two-stage “evaluate honestly, then ship” discipline is consistent across both checkpoint generations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WiFi-CSI Presence Collector — Main-Branch Model (WhoFi Transformer)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82296" cy="777240"/>
          </a:xfrm>
          <a:prstGeom prst="roundRect">
            <a:avLst>
              <a:gd name="adj" fmla="val 6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22960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EB6834"/>
                </a:solidFill>
                <a:latin typeface="Segoe UI"/>
              </a:rPr>
              <a:t>LIVE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943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Segoe UI"/>
              </a:rPr>
              <a:t>live_infer.py — from board stream to a trusted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163" y="1371600"/>
            <a:ext cx="2057400" cy="11887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0B0B"/>
                </a:solidFill>
                <a:latin typeface="Segoe UI"/>
              </a:rPr>
              <a:t>Bandwidth/channel gate</a:t>
            </a:r>
          </a:p>
          <a:p>
            <a:pPr algn="ctr"/>
            <a:r>
              <a:rPr sz="950">
                <a:solidFill>
                  <a:srgbClr val="52514E"/>
                </a:solidFill>
                <a:latin typeface="Segoe UI"/>
              </a:rPr>
              <a:t>checked BEFORE the calibration</a:t>
            </a:r>
          </a:p>
          <a:p>
            <a:pPr algn="ctr"/>
            <a:r>
              <a:rPr sz="950">
                <a:solidFill>
                  <a:srgbClr val="52514E"/>
                </a:solidFill>
                <a:latin typeface="Segoe UI"/>
              </a:rPr>
              <a:t>wait — fail fast on wrong config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80563" y="1965960"/>
            <a:ext cx="164592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45155" y="1371600"/>
            <a:ext cx="2057400" cy="11887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0B0B"/>
                </a:solidFill>
                <a:latin typeface="Segoe UI"/>
              </a:rPr>
              <a:t>Live calibration</a:t>
            </a:r>
          </a:p>
          <a:p>
            <a:pPr algn="ctr"/>
            <a:r>
              <a:rPr sz="950">
                <a:solidFill>
                  <a:srgbClr val="52514E"/>
                </a:solidFill>
                <a:latin typeface="Segoe UI"/>
              </a:rPr>
              <a:t>~15s “stand outside</a:t>
            </a:r>
          </a:p>
          <a:p>
            <a:pPr algn="ctr"/>
            <a:r>
              <a:rPr sz="950">
                <a:solidFill>
                  <a:srgbClr val="52514E"/>
                </a:solidFill>
                <a:latin typeface="Segoe UI"/>
              </a:rPr>
              <a:t>the room” → empty-room baseline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02555" y="1965960"/>
            <a:ext cx="164592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67147" y="1371600"/>
            <a:ext cx="2057400" cy="11887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0B0B"/>
                </a:solidFill>
                <a:latin typeface="Segoe UI"/>
              </a:rPr>
              <a:t>Rolling window</a:t>
            </a:r>
          </a:p>
          <a:p>
            <a:pPr algn="ctr"/>
            <a:r>
              <a:rPr sz="950">
                <a:solidFill>
                  <a:srgbClr val="52514E"/>
                </a:solidFill>
                <a:latin typeface="Segoe UI"/>
              </a:rPr>
              <a:t>200-packet window,</a:t>
            </a:r>
          </a:p>
          <a:p>
            <a:pPr algn="ctr"/>
            <a:r>
              <a:rPr sz="950">
                <a:solidFill>
                  <a:srgbClr val="52514E"/>
                </a:solidFill>
                <a:latin typeface="Segoe UI"/>
              </a:rPr>
              <a:t>100-packet stride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24547" y="1965960"/>
            <a:ext cx="164592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289139" y="1371600"/>
            <a:ext cx="2057400" cy="11887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0B0B"/>
                </a:solidFill>
                <a:latin typeface="Segoe UI"/>
              </a:rPr>
              <a:t>4 task predictions</a:t>
            </a:r>
          </a:p>
          <a:p>
            <a:pPr algn="ctr"/>
            <a:r>
              <a:rPr sz="950">
                <a:solidFill>
                  <a:srgbClr val="52514E"/>
                </a:solidFill>
                <a:latin typeface="Segoe UI"/>
              </a:rPr>
              <a:t>instantaneous</a:t>
            </a:r>
          </a:p>
          <a:p>
            <a:pPr algn="ctr"/>
            <a:r>
              <a:rPr sz="950">
                <a:solidFill>
                  <a:srgbClr val="52514E"/>
                </a:solidFill>
                <a:latin typeface="Segoe UI"/>
              </a:rPr>
              <a:t>probability per task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46539" y="1965960"/>
            <a:ext cx="164592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511131" y="1371600"/>
            <a:ext cx="2057400" cy="11887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0B0B"/>
                </a:solidFill>
                <a:latin typeface="Segoe UI"/>
              </a:rPr>
              <a:t>~30s rolling aggregate</a:t>
            </a:r>
          </a:p>
          <a:p>
            <a:pPr algn="ctr"/>
            <a:r>
              <a:rPr sz="950">
                <a:solidFill>
                  <a:srgbClr val="52514E"/>
                </a:solidFill>
                <a:latin typeface="Segoe UI"/>
              </a:rPr>
              <a:t>mean over ~60 windows —</a:t>
            </a:r>
          </a:p>
          <a:p>
            <a:pPr algn="ctr"/>
            <a:r>
              <a:rPr sz="950">
                <a:solidFill>
                  <a:srgbClr val="52514E"/>
                </a:solidFill>
                <a:latin typeface="Segoe UI"/>
              </a:rPr>
              <a:t>the number to 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7180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Presence gates the display of Auth/Motion: if the aggregate presence probability says “empty”, Auth and Motion print “n/a (no one present)” rather than a misleading guess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Guided phases (optional): prompts + a live countdown for “STAND STILL” then “WALK AROUND”, so a tester knows exactly when to switch — Auth doesn't need this split, Motion does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Time-normalized checkpoints (the day3ch6 track) additionally bin-average the raw live packet stream onto the training-time target rate before windowing, via LiveTimeResampler — otherwise the exact packet-rate confound the offline fix closed would reappear live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A periodic bandwidth re-check runs every 3000 packets during streaming — warns rather than aborts, since aborting a live demo mid-flight over a possibly-transient blip is worse than a warning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WiFi-CSI Presence Collector — Main-Branch Model (WhoFi Transformer)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82296" cy="777240"/>
          </a:xfrm>
          <a:prstGeom prst="roundRect">
            <a:avLst>
              <a:gd name="adj" fmla="val 6000"/>
            </a:avLst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22960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E34948"/>
                </a:solidFill>
                <a:latin typeface="Segoe UI"/>
              </a:rPr>
              <a:t>VALIDATED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943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Segoe UI"/>
              </a:rPr>
              <a:t>raw vs. calibA, and why aggregation window length matters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34440"/>
          <a:ext cx="106984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554480"/>
                <a:gridCol w="1554480"/>
                <a:gridCol w="1463040"/>
                <a:gridCol w="2011680"/>
                <a:gridCol w="2011680"/>
              </a:tblGrid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Preprocessing</a:t>
                      </a:r>
                    </a:p>
                  </a:txBody>
                  <a:tcPr anchor="ctr" marL="76200" marR="76200">
                    <a:solidFill>
                      <a:srgbClr val="111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n_windows</a:t>
                      </a:r>
                    </a:p>
                  </a:txBody>
                  <a:tcPr anchor="ctr" marL="76200" marR="76200">
                    <a:solidFill>
                      <a:srgbClr val="111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Accuracy</a:t>
                      </a:r>
                    </a:p>
                  </a:txBody>
                  <a:tcPr anchor="ctr" marL="76200" marR="76200">
                    <a:solidFill>
                      <a:srgbClr val="111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AUROC</a:t>
                      </a:r>
                    </a:p>
                  </a:txBody>
                  <a:tcPr anchor="ctr" marL="76200" marR="76200">
                    <a:solidFill>
                      <a:srgbClr val="111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False-accept unauth.</a:t>
                      </a:r>
                    </a:p>
                  </a:txBody>
                  <a:tcPr anchor="ctr" marL="76200" marR="76200">
                    <a:solidFill>
                      <a:srgbClr val="111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False-accept none</a:t>
                      </a:r>
                    </a:p>
                  </a:txBody>
                  <a:tcPr anchor="ctr" marL="76200" marR="76200">
                    <a:solidFill>
                      <a:srgbClr val="111E2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514E"/>
                          </a:solidFill>
                          <a:latin typeface="Segoe UI"/>
                        </a:rPr>
                        <a:t>raw</a:t>
                      </a:r>
                    </a:p>
                  </a:txBody>
                  <a:tcPr anchor="ctr" marL="76200" marR="762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60 (~30s)</a:t>
                      </a:r>
                    </a:p>
                  </a:txBody>
                  <a:tcPr anchor="ctr" marL="76200" marR="762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0.798</a:t>
                      </a:r>
                    </a:p>
                  </a:txBody>
                  <a:tcPr anchor="ctr" marL="76200" marR="762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0.899</a:t>
                      </a:r>
                    </a:p>
                  </a:txBody>
                  <a:tcPr anchor="ctr" marL="76200" marR="762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58.2%</a:t>
                      </a:r>
                    </a:p>
                  </a:txBody>
                  <a:tcPr anchor="ctr" marL="76200" marR="762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3.9%</a:t>
                      </a:r>
                    </a:p>
                  </a:txBody>
                  <a:tcPr anchor="ctr" marL="76200" marR="76200">
                    <a:solidFill>
                      <a:srgbClr val="FCFCF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514E"/>
                          </a:solidFill>
                          <a:latin typeface="Segoe UI"/>
                        </a:rPr>
                        <a:t>calibA</a:t>
                      </a:r>
                    </a:p>
                  </a:txBody>
                  <a:tcPr anchor="ctr" marL="76200" marR="76200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60 (~30s)</a:t>
                      </a:r>
                    </a:p>
                  </a:txBody>
                  <a:tcPr anchor="ctr" marL="76200" marR="76200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0.749</a:t>
                      </a:r>
                    </a:p>
                  </a:txBody>
                  <a:tcPr anchor="ctr" marL="76200" marR="76200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0.821</a:t>
                      </a:r>
                    </a:p>
                  </a:txBody>
                  <a:tcPr anchor="ctr" marL="76200" marR="76200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34948"/>
                          </a:solidFill>
                          <a:latin typeface="Segoe UI"/>
                        </a:rPr>
                        <a:t>5.5%</a:t>
                      </a:r>
                    </a:p>
                  </a:txBody>
                  <a:tcPr anchor="ctr" marL="76200" marR="76200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1.6%</a:t>
                      </a:r>
                    </a:p>
                  </a:txBody>
                  <a:tcPr anchor="ctr" marL="76200" marR="76200">
                    <a:solidFill>
                      <a:srgbClr val="F9F9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2971800"/>
            <a:ext cx="10698480" cy="3657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350" b="1">
                <a:solidFill>
                  <a:srgbClr val="0B0B0B"/>
                </a:solidFill>
                <a:latin typeface="Segoe UI"/>
              </a:rPr>
              <a:t>Calibration and aggregation window length are COMPOUNDING levers — false-accept-unauthorized under calibA shrinks monotonically as the window lengthens: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5187" y="342900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0B0B"/>
                </a:solidFill>
                <a:latin typeface="Segoe UI"/>
              </a:rPr>
              <a:t>21.5%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1 window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(~1s)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81147" y="3886200"/>
            <a:ext cx="182880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64027" y="342900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0B0B"/>
                </a:solidFill>
                <a:latin typeface="Segoe UI"/>
              </a:rPr>
              <a:t>13.7%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~5s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29987" y="3886200"/>
            <a:ext cx="182880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12867" y="342900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0B0B"/>
                </a:solidFill>
                <a:latin typeface="Segoe UI"/>
              </a:rPr>
              <a:t>13.0%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~10s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78827" y="3886200"/>
            <a:ext cx="182880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61707" y="342900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0B0B"/>
                </a:solidFill>
                <a:latin typeface="Segoe UI"/>
              </a:rPr>
              <a:t>8.0%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~20s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27667" y="3886200"/>
            <a:ext cx="182880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10547" y="342900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E34948"/>
          </a:solidFill>
          <a:ln w="15875">
            <a:solidFill>
              <a:srgbClr val="E34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5.5%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~30s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09160"/>
            <a:ext cx="10698480" cy="14173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846320"/>
            <a:ext cx="10058400" cy="11887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350" b="0">
                <a:solidFill>
                  <a:srgbClr val="52514E"/>
                </a:solidFill>
                <a:latin typeface="Segoe UI"/>
              </a:rPr>
              <a:t>Recommended production config: whofi_transformer + calibA + ~30s decision window.</a:t>
            </a:r>
          </a:p>
          <a:p>
            <a:pPr algn="l"/>
            <a:r>
              <a:rPr sz="1350" b="0">
                <a:solidFill>
                  <a:srgbClr val="52514E"/>
                </a:solidFill>
                <a:latin typeface="Segoe UI"/>
              </a:rPr>
              <a:t>Raw's peak AUROC is higher (0.899 vs 0.821), but that's the wrong number to optimize for this task — calibA is dramatically better at the decision that actually matters: correctly rejecting a real intruder.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WiFi-CSI Presence Collector — Main-Branch Model (WhoFi Transformer)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82296" cy="777240"/>
          </a:xfrm>
          <a:prstGeom prst="roundRect">
            <a:avLst>
              <a:gd name="adj" fmla="val 6000"/>
            </a:avLst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22960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E34948"/>
                </a:solidFill>
                <a:latin typeface="Segoe UI"/>
              </a:rPr>
              <a:t>KNOWN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943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Segoe UI"/>
              </a:rPr>
              <a:t>Read this before demoing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taskB (identity, anjali/barath) tested BELOW CHANCE cross-day — AUROC 0.20–0.31, where 0.5 is a coin flip. Included because it was asked for; live_infer.py labels its output experimental/unreliable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Day1 (186-sub, 40 MHz) vs Day2/3 (128-sub, 20 MHz) were captured on non-overlapping RF frequency bands — resampling + calibA compensate, but router channel/bandwidth pinning before future collection days is still the field's actual recommended fix, not a purely algorithmic one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calibA requires a fresh per-day (or per-session, live) empty-room baseline — a brand-new environment with no quiet-room recording has no calibration to apply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Deployable checkpoints have zero internal held-out split by design — their printed accuracy is a sanity check, not a generalization estimate; only the separate sweep runs and Day3 live testing are the trustworthy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280160"/>
            <a:ext cx="5166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Explicitly ruled out or not fully wired in yet: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52514E"/>
                </a:solidFill>
                <a:latin typeface="Segoe UI"/>
              </a:rPr>
              <a:t>–  CSI-ratio method (cancel phase noise via 2 Rx antennas) — needs 2+ antennas; this ESP32-S3 setup is 1x1, not applicable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52514E"/>
                </a:solidFill>
                <a:latin typeface="Segoe UI"/>
              </a:rPr>
              <a:t>–  ℓ₁ per-packet gain normalization — implemented, unit-tested, not yet run through the full sweep as a real comparison arm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52514E"/>
                </a:solidFill>
                <a:latin typeface="Segoe UI"/>
              </a:rPr>
              <a:t>–  RSSI fusion — implemented as a non-invasive wrapper, verified on a small smoke sample only, not a full sweep arm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52514E"/>
                </a:solidFill>
                <a:latin typeface="Segoe UI"/>
              </a:rPr>
              <a:t>–  Doppler/velocity-domain features — the most cross-day-robust representation found so far in exploratory work (AUROC never flips below chance in either direction), but needs a much longer 10–18s decision horizon and isn't part of the shipped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WiFi-CSI Presence Collector — Main-Branch Model (WhoFi Transformer)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82296" cy="77724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22960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  <a:latin typeface="Segoe UI"/>
              </a:rPr>
              <a:t>FOR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943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Segoe UI"/>
              </a:rPr>
              <a:t>How this relates to the other (uncommitted) approaches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3444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108960"/>
                <a:gridCol w="2743200"/>
                <a:gridCol w="2743200"/>
              </a:tblGrid>
              <a:tr h="838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101600" marR="101600" marT="50800" marB="50800">
                    <a:solidFill>
                      <a:srgbClr val="11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Main branch (this deck)</a:t>
                      </a:r>
                    </a:p>
                  </a:txBody>
                  <a:tcPr anchor="ctr" marL="101600" marR="101600" marT="50800" marB="50800">
                    <a:solidFill>
                      <a:srgbClr val="11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Home Model (RF)</a:t>
                      </a:r>
                    </a:p>
                  </a:txBody>
                  <a:tcPr anchor="ctr" marL="101600" marR="101600" marT="50800" marB="50800">
                    <a:solidFill>
                      <a:srgbClr val="11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Signature + EVM</a:t>
                      </a:r>
                    </a:p>
                  </a:txBody>
                  <a:tcPr anchor="ctr" marL="101600" marR="101600" marT="50800" marB="50800">
                    <a:solidFill>
                      <a:srgbClr val="111E2E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2514E"/>
                          </a:solidFill>
                          <a:latin typeface="Segoe UI"/>
                        </a:rPr>
                        <a:t>Committed to main?</a:t>
                      </a:r>
                    </a:p>
                  </a:txBody>
                  <a:tcPr anchor="ctr" marL="101600" marR="101600" marT="50800" marB="508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A78D6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anchor="ctr" marL="101600" marR="101600" marT="50800" marB="508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No — local/uncommitted</a:t>
                      </a:r>
                    </a:p>
                  </a:txBody>
                  <a:tcPr anchor="ctr" marL="101600" marR="101600" marT="50800" marB="508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No — local/uncommitted</a:t>
                      </a:r>
                    </a:p>
                  </a:txBody>
                  <a:tcPr anchor="ctr" marL="101600" marR="101600" marT="50800" marB="50800">
                    <a:solidFill>
                      <a:srgbClr val="FCFCFB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2514E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anchor="ctr" marL="101600" marR="101600" marT="50800" marB="50800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A78D6"/>
                          </a:solidFill>
                          <a:latin typeface="Segoe UI"/>
                        </a:rPr>
                        <a:t>WhoFiTransformer (1-layer)</a:t>
                      </a:r>
                    </a:p>
                  </a:txBody>
                  <a:tcPr anchor="ctr" marL="101600" marR="101600" marT="50800" marB="50800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Random Forest, 300 trees</a:t>
                      </a:r>
                    </a:p>
                  </a:txBody>
                  <a:tcPr anchor="ctr" marL="101600" marR="101600" marT="50800" marB="50800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Transformer + Weibull/EVM</a:t>
                      </a:r>
                    </a:p>
                  </a:txBody>
                  <a:tcPr anchor="ctr" marL="101600" marR="101600" marT="50800" marB="50800">
                    <a:solidFill>
                      <a:srgbClr val="F9F9F7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2514E"/>
                          </a:solidFill>
                          <a:latin typeface="Segoe UI"/>
                        </a:rPr>
                        <a:t>Tasks</a:t>
                      </a:r>
                    </a:p>
                  </a:txBody>
                  <a:tcPr anchor="ctr" marL="101600" marR="101600" marT="50800" marB="508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A78D6"/>
                          </a:solidFill>
                          <a:latin typeface="Segoe UI"/>
                        </a:rPr>
                        <a:t>Presence, Auth-gate, Motion, Identity (unreliable)</a:t>
                      </a:r>
                    </a:p>
                  </a:txBody>
                  <a:tcPr anchor="ctr" marL="101600" marR="101600" marT="50800" marB="508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Closed 2-class identity only</a:t>
                      </a:r>
                    </a:p>
                  </a:txBody>
                  <a:tcPr anchor="ctr" marL="101600" marR="101600" marT="50800" marB="508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Open-set accept/reject + ID</a:t>
                      </a:r>
                    </a:p>
                  </a:txBody>
                  <a:tcPr anchor="ctr" marL="101600" marR="101600" marT="50800" marB="50800">
                    <a:solidFill>
                      <a:srgbClr val="FCFCFB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2514E"/>
                          </a:solidFill>
                          <a:latin typeface="Segoe UI"/>
                        </a:rPr>
                        <a:t>Calibration</a:t>
                      </a:r>
                    </a:p>
                  </a:txBody>
                  <a:tcPr anchor="ctr" marL="101600" marR="101600" marT="50800" marB="50800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A78D6"/>
                          </a:solidFill>
                          <a:latin typeface="Segoe UI"/>
                        </a:rPr>
                        <a:t>calibA (empty-room z-score)</a:t>
                      </a:r>
                    </a:p>
                  </a:txBody>
                  <a:tcPr anchor="ctr" marL="101600" marR="101600" marT="50800" marB="50800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None needed (RF invariant)</a:t>
                      </a:r>
                    </a:p>
                  </a:txBody>
                  <a:tcPr anchor="ctr" marL="101600" marR="101600" marT="50800" marB="50800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None (found harmful here)</a:t>
                      </a:r>
                    </a:p>
                  </a:txBody>
                  <a:tcPr anchor="ctr" marL="101600" marR="101600" marT="50800" marB="50800">
                    <a:solidFill>
                      <a:srgbClr val="F9F9F7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2514E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anchor="ctr" marL="101600" marR="101600" marT="50800" marB="508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A78D6"/>
                          </a:solidFill>
                          <a:latin typeface="Segoe UI"/>
                        </a:rPr>
                        <a:t>Deployed / validated</a:t>
                      </a:r>
                    </a:p>
                  </a:txBody>
                  <a:tcPr anchor="ctr" marL="101600" marR="101600" marT="50800" marB="508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L="101600" marR="101600" marT="50800" marB="508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L="101600" marR="101600" marT="50800" marB="50800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WiFi-CSI Presence Collector — Main-Branch Model (WhoFi Transformer)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