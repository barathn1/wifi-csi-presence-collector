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2331720"/>
            <a:ext cx="109728" cy="1554480"/>
          </a:xfrm>
          <a:prstGeom prst="roundRect">
            <a:avLst>
              <a:gd name="adj" fmla="val 6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10058400" cy="3657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9EC5F4"/>
                </a:solidFill>
                <a:latin typeface="Segoe UI"/>
              </a:rPr>
              <a:t>WIFI-CSI PRESENCE COLLECTOR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2651760"/>
            <a:ext cx="10515600" cy="12801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CSI Preprocessing Pipeline &amp;</a:t>
            </a:r>
          </a:p>
          <a:p>
            <a:pPr algn="l"/>
            <a:r>
              <a:rPr sz="3600" b="1">
                <a:solidFill>
                  <a:srgbClr val="FFFFFF"/>
                </a:solidFill>
                <a:latin typeface="Segoe UI"/>
              </a:rPr>
              <a:t>Transformer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977639"/>
            <a:ext cx="9601200" cy="8229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500" b="0">
                <a:solidFill>
                  <a:srgbClr val="C3C2B7"/>
                </a:solidFill>
                <a:latin typeface="Segoe UI"/>
              </a:rPr>
              <a:t>How raw WiFi Channel State Information becomes clip / window features, and how the</a:t>
            </a:r>
          </a:p>
          <a:p>
            <a:pPr algn="l"/>
            <a:r>
              <a:rPr sz="1500" b="0">
                <a:solidFill>
                  <a:srgbClr val="C3C2B7"/>
                </a:solidFill>
                <a:latin typeface="Segoe UI"/>
              </a:rPr>
              <a:t>signature transformer (BranchEncoder) consumes and manipulates that data.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6035040"/>
            <a:ext cx="7315200" cy="3657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100" b="0">
                <a:solidFill>
                  <a:srgbClr val="898781"/>
                </a:solidFill>
                <a:latin typeface="Segoe UI"/>
              </a:rPr>
              <a:t>Current branch — Home Model (Random Forest) + Signature/EVM (Transformer)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82296" cy="77724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2296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Segoe U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Two model families live on this branch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45720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Segoe UI"/>
              </a:rPr>
              <a:t>Same raw CSI source, two unrelated pipelines and feature representations.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l"/>
            <a:r>
              <a:rPr sz="100" b="0">
                <a:solidFill>
                  <a:srgbClr val="0B0B0B"/>
                </a:solidFill>
                <a:latin typeface="Segoe UI"/>
              </a:rPr>
              <a:t/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83080"/>
            <a:ext cx="5212080" cy="50292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19"/>
            <a:ext cx="4754880" cy="3657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HOME MODEL  (v2, deployed)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46888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Task: closed 2-class identity — anjali vs barath, always picks one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Model: Random Forest, 300 trees, class_weight="balanced"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Features: 4 statistical moments (mean/std/skew/kurtosis) per subcarrier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Windowing: 3 s clips, 1 s stride, 50% coverage gate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Feature vector: 4 × 128 subcarriers = 512 numbers per clip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No neural network anywhere in this path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Same-day accuracy ~70–95%; cross-day ~55–70%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783080"/>
            <a:ext cx="5212080" cy="448056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1783080"/>
            <a:ext cx="5212080" cy="502920"/>
          </a:xfrm>
          <a:prstGeom prst="roundRect">
            <a:avLst>
              <a:gd name="adj" fmla="val 6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874519"/>
            <a:ext cx="4754880" cy="3657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Segoe UI"/>
              </a:rPr>
              <a:t>SIGNATURE + EVM  (experimental, open-set)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246888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Task: open-set accept/reject — can say “unknown”, plus identify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Model: Transformer encoder (BranchEncoder) → 32-d signature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+ Extreme Value Machine (Weibull tails) for the accept/reject decision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Features: raw amplitude sequence — no hand-engineered moments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Windowing: 200-packet windows, 100-packet stride (50% overlap)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Trained with in-batch-negative contrastive loss (WhoFi-style)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Mean AUROC ≈ 0.45 across held-out strangers — experimental, not deployed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Pipeline &amp; Model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82296" cy="77724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2296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Segoe UI"/>
              </a:rPr>
              <a:t>FLOWCHART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End-to-end: raw packets → preprocessing → both pipelines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1097280"/>
            <a:ext cx="3200400" cy="594360"/>
          </a:xfrm>
          <a:prstGeom prst="roundRect">
            <a:avLst>
              <a:gd name="adj" fmla="val 6000"/>
            </a:avLst>
          </a:prstGeom>
          <a:solidFill>
            <a:srgbClr val="111E2E"/>
          </a:solidFill>
          <a:ln w="15875">
            <a:solidFill>
              <a:srgbClr val="111E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Raw CSI packets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~100–150 pkt/s, 128 complex subcarriers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080760" y="1691640"/>
            <a:ext cx="0" cy="182879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101189" y="1920240"/>
            <a:ext cx="1874519" cy="594360"/>
          </a:xfrm>
          <a:prstGeom prst="roundRect">
            <a:avLst>
              <a:gd name="adj" fmla="val 6000"/>
            </a:avLst>
          </a:prstGeom>
          <a:solidFill>
            <a:srgbClr val="1BAF7A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Clean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drop bad packets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975708" y="2217420"/>
            <a:ext cx="18288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158588" y="1920240"/>
            <a:ext cx="1874519" cy="594360"/>
          </a:xfrm>
          <a:prstGeom prst="roundRect">
            <a:avLst>
              <a:gd name="adj" fmla="val 6000"/>
            </a:avLst>
          </a:prstGeom>
          <a:solidFill>
            <a:srgbClr val="1BAF7A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Dominant length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keep mode csi_len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033107" y="2217420"/>
            <a:ext cx="18288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215987" y="1920240"/>
            <a:ext cx="1874519" cy="594360"/>
          </a:xfrm>
          <a:prstGeom prst="roundRect">
            <a:avLst>
              <a:gd name="adj" fmla="val 6000"/>
            </a:avLst>
          </a:prstGeom>
          <a:solidFill>
            <a:srgbClr val="1BAF7A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Amplitude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sqrt(real²+imag²)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95847.5" y="2514600"/>
            <a:ext cx="0.0" cy="18288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3337560" y="2697480"/>
            <a:ext cx="2758287.5" cy="18288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5847.5" y="2697480"/>
            <a:ext cx="2773832.5" cy="18288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2880360"/>
            <a:ext cx="5212080" cy="36576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880360"/>
            <a:ext cx="5212080" cy="365760"/>
          </a:xfrm>
          <a:prstGeom prst="rect">
            <a:avLst/>
          </a:prstGeom>
          <a:noFill/>
        </p:spPr>
        <p:txBody>
          <a:bodyPr wrap="square" anchor="ctr" lIns="76200" rIns="76200" tIns="50800" bIns="5080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HOME MODEL  —  Random Forest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880360"/>
            <a:ext cx="5166360" cy="365760"/>
          </a:xfrm>
          <a:prstGeom prst="roundRect">
            <a:avLst>
              <a:gd name="adj" fmla="val 6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880360"/>
            <a:ext cx="5166360" cy="365760"/>
          </a:xfrm>
          <a:prstGeom prst="rect">
            <a:avLst/>
          </a:prstGeom>
          <a:noFill/>
        </p:spPr>
        <p:txBody>
          <a:bodyPr wrap="square" anchor="ctr" lIns="76200" rIns="76200" tIns="50800" bIns="50800">
            <a:spAutoFit/>
          </a:bodyPr>
          <a:lstStyle/>
          <a:p>
            <a:pPr algn="ctr"/>
            <a:r>
              <a:rPr sz="1250" b="1">
                <a:solidFill>
                  <a:srgbClr val="FFFFFF"/>
                </a:solidFill>
                <a:latin typeface="Segoe UI"/>
              </a:rPr>
              <a:t>SIGNATURE + EVM  —  Transformer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337560"/>
            <a:ext cx="5212080" cy="45720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0B0B0B"/>
                </a:solidFill>
                <a:latin typeface="Segoe UI"/>
              </a:rPr>
              <a:t>Clip windowing (3 s / 1 s stride) + 50% coverage gate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337560.0" y="3794760"/>
            <a:ext cx="0.0" cy="118872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31520" y="3913632"/>
            <a:ext cx="5212080" cy="45720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0B0B0B"/>
                </a:solidFill>
                <a:latin typeface="Segoe UI"/>
              </a:rPr>
              <a:t>Per-subcarrier moments: mean, std, skew, kurtosis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337560.0" y="4370832"/>
            <a:ext cx="0.0" cy="118872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1520" y="4489704"/>
            <a:ext cx="5212080" cy="45720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0B0B0B"/>
                </a:solidFill>
                <a:latin typeface="Segoe UI"/>
              </a:rPr>
              <a:t>Feature vector: 4 × 128 subcarriers = 512-d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3337560.0" y="4946904"/>
            <a:ext cx="0.0" cy="118872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1520" y="5065776"/>
            <a:ext cx="5212080" cy="45720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Random Forest — 300 trees, bagging + feature subsampling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337560.0" y="5522976"/>
            <a:ext cx="0.0" cy="118872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1520" y="5641848"/>
            <a:ext cx="5212080" cy="45720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Majority vote across clips  →  anjali / barath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3337560"/>
            <a:ext cx="5166360" cy="45720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0B0B0B"/>
                </a:solidFill>
                <a:latin typeface="Segoe UI"/>
              </a:rPr>
              <a:t>Time-normalize: resample to common packet rate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846820.0" y="3794760"/>
            <a:ext cx="0.0" cy="118872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263640" y="3913632"/>
            <a:ext cx="5166360" cy="45720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0B0B0B"/>
                </a:solidFill>
                <a:latin typeface="Segoe UI"/>
              </a:rPr>
              <a:t>Windowing: 200-packet windows / 100-packet stride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8846820.0" y="4370832"/>
            <a:ext cx="0.0" cy="118872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6263640" y="4489704"/>
            <a:ext cx="5166360" cy="45720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0B0B0B"/>
                </a:solidFill>
                <a:latin typeface="Segoe UI"/>
              </a:rPr>
              <a:t>Transformer encoder (BranchEncoder): attention → 32-d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846820.0" y="4946904"/>
            <a:ext cx="0.0" cy="118872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263640" y="5065776"/>
            <a:ext cx="5166360" cy="457200"/>
          </a:xfrm>
          <a:prstGeom prst="roundRect">
            <a:avLst>
              <a:gd name="adj" fmla="val 6000"/>
            </a:avLst>
          </a:prstGeom>
          <a:solidFill>
            <a:srgbClr val="EB6834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Mean-pool + L2-normalize  →  unit-norm signature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846820.0" y="5522976"/>
            <a:ext cx="0.0" cy="118872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6263640" y="5641848"/>
            <a:ext cx="5166360" cy="457200"/>
          </a:xfrm>
          <a:prstGeom prst="roundRect">
            <a:avLst>
              <a:gd name="adj" fmla="val 6000"/>
            </a:avLst>
          </a:prstGeom>
          <a:solidFill>
            <a:srgbClr val="EB6834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EVM Weibull scoring  →  accept/reject + identity / “unknown”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Pipeline &amp; Model Architecture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82296" cy="77724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2296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Segoe UI"/>
              </a:rPr>
              <a:t>RAW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What a CSI reading actually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120640" cy="44805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00" b="0">
                <a:solidFill>
                  <a:srgbClr val="0B0B0B"/>
                </a:solidFill>
                <a:latin typeface="Segoe U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0B0B0B"/>
                </a:solidFill>
                <a:latin typeface="Segoe UI"/>
              </a:rPr>
              <a:t>•  Every WiFi packet the ESP32 hears yields one CSI reading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0B0B0B"/>
                </a:solidFill>
                <a:latin typeface="Segoe UI"/>
              </a:rPr>
              <a:t>•  The channel is split into ~128 narrow frequency slices (subcarriers)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0B0B0B"/>
                </a:solidFill>
                <a:latin typeface="Segoe UI"/>
              </a:rPr>
              <a:t>•  Each subcarrier's CSI value is a complex number: real + imaginary part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0B0B0B"/>
                </a:solidFill>
                <a:latin typeface="Segoe UI"/>
              </a:rPr>
              <a:t>•  Packets arrive continuously — roughly 100–150 packets/second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500">
                <a:solidFill>
                  <a:srgbClr val="0B0B0B"/>
                </a:solidFill>
                <a:latin typeface="Segoe UI"/>
              </a:rPr>
              <a:t>•  Amplitude is used, not phase: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52514E"/>
                </a:solidFill>
                <a:latin typeface="Segoe UI"/>
              </a:rPr>
              <a:t>–  amplitude = sqrt(real² + imaginary²)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52514E"/>
                </a:solidFill>
                <a:latin typeface="Segoe UI"/>
              </a:rPr>
              <a:t>–  Phase is noisy on cheap radios (ESP32 clock/sampling offsets) —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52514E"/>
                </a:solidFill>
                <a:latin typeface="Segoe UI"/>
              </a:rPr>
              <a:t>–  amplitude is the standard, more robust channel for this kind of sensing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71600"/>
            <a:ext cx="4846320" cy="39319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0" y="1508760"/>
            <a:ext cx="429768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300" b="1">
                <a:solidFill>
                  <a:srgbClr val="52514E"/>
                </a:solidFill>
                <a:latin typeface="Segoe UI"/>
              </a:rPr>
              <a:t>One packet → one CSI vector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1965960"/>
            <a:ext cx="1554480" cy="82296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WiFi packet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366760" y="2377440"/>
            <a:ext cx="54864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961120" y="1874519"/>
            <a:ext cx="1920240" cy="1005840"/>
          </a:xfrm>
          <a:prstGeom prst="roundRect">
            <a:avLst>
              <a:gd name="adj" fmla="val 6000"/>
            </a:avLst>
          </a:prstGeom>
          <a:solidFill>
            <a:srgbClr val="1BAF7A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128 complex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subcarriers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one CSI reading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543800" y="2788920"/>
            <a:ext cx="0" cy="32004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766560" y="3154680"/>
            <a:ext cx="4114800" cy="777240"/>
          </a:xfrm>
          <a:prstGeom prst="roundRect">
            <a:avLst>
              <a:gd name="adj" fmla="val 6000"/>
            </a:avLst>
          </a:prstGeom>
          <a:solidFill>
            <a:srgbClr val="EB6834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amplitude = |real + i·imag|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sqrt(real² + imag²), per subcarrier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4160520"/>
            <a:ext cx="4297680" cy="10058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0">
                <a:solidFill>
                  <a:srgbClr val="52514E"/>
                </a:solidFill>
                <a:latin typeface="Segoe UI"/>
              </a:rPr>
              <a:t>A full session = a stream of these amplitude vectors over time —</a:t>
            </a:r>
          </a:p>
          <a:p>
            <a:pPr algn="l"/>
            <a:r>
              <a:rPr sz="1200" b="0">
                <a:solidFill>
                  <a:srgbClr val="52514E"/>
                </a:solidFill>
                <a:latin typeface="Segoe UI"/>
              </a:rPr>
              <a:t>variable length, noisy, not directly usable by a fixed-input model.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Pipeline &amp; Model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82296" cy="77724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2296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Segoe UI"/>
              </a:rPr>
              <a:t>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Raw session → clean amplitude timeline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50" b="0">
                <a:solidFill>
                  <a:srgbClr val="52514E"/>
                </a:solidFill>
                <a:latin typeface="Segoe UI"/>
              </a:rPr>
              <a:t>Shared by both pipelines before they diverge into clip-moments (Home Model) vs raw windows (Signature model).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2347" y="1965960"/>
            <a:ext cx="2331720" cy="123444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Raw packets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per-session CSI stream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84067" y="2583180"/>
            <a:ext cx="32004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04107" y="1965960"/>
            <a:ext cx="2331720" cy="1234440"/>
          </a:xfrm>
          <a:prstGeom prst="roundRect">
            <a:avLst>
              <a:gd name="adj" fmla="val 6000"/>
            </a:avLst>
          </a:prstGeom>
          <a:solidFill>
            <a:srgbClr val="1BAF7A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Clean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drop first_word_invalid +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duplicate-timestamp packets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35827" y="2583180"/>
            <a:ext cx="32004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55867" y="1965960"/>
            <a:ext cx="2331720" cy="1234440"/>
          </a:xfrm>
          <a:prstGeom prst="roundRect">
            <a:avLst>
              <a:gd name="adj" fmla="val 6000"/>
            </a:avLst>
          </a:prstGeom>
          <a:solidFill>
            <a:srgbClr val="1BAF7A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Dominant length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keep the mode csi_len;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drop odd-shaped frames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87587" y="2583180"/>
            <a:ext cx="32004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907627" y="1965960"/>
            <a:ext cx="2331720" cy="1234440"/>
          </a:xfrm>
          <a:prstGeom prst="roundRect">
            <a:avLst>
              <a:gd name="adj" fmla="val 6000"/>
            </a:avLst>
          </a:prstGeom>
          <a:solidFill>
            <a:srgbClr val="EB6834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Amplitude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sqrt(real²+imag²)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per subcarrier, per packet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657600"/>
            <a:ext cx="10698480" cy="23317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94760"/>
            <a:ext cx="100584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Segoe UI"/>
              </a:rPr>
              <a:t>Then the two pipelines diverge: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2062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2A78D6"/>
                </a:solidFill>
                <a:latin typeface="Segoe UI"/>
              </a:rPr>
              <a:t>•  Home Model: cut into 3 s / 1 s-stride clips → reduce each clip to 4 moments per subcarrier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420624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EB6834"/>
                </a:solidFill>
                <a:latin typeface="Segoe UI"/>
              </a:rPr>
              <a:t>•  Signature model: resample to a common packet rate → cut into 200-packet windows, fed raw to the transformer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Pipeline &amp; Model Architecture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82296" cy="77724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2296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Segoe UI"/>
              </a:rPr>
              <a:t>HOME MODEL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Clip windowing → statistical moments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167" y="1417320"/>
            <a:ext cx="2514600" cy="11887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0B0B"/>
                </a:solidFill>
                <a:latin typeface="Segoe UI"/>
              </a:rPr>
              <a:t>Clip windowing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3.0 s clips, 1.0 s stride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(67% overlap)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69767" y="2011680"/>
            <a:ext cx="27432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44087" y="1417320"/>
            <a:ext cx="2514600" cy="11887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0B0B"/>
                </a:solidFill>
                <a:latin typeface="Segoe UI"/>
              </a:rPr>
              <a:t>Coverage gate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drop clip if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&lt; 50% expected packets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58687" y="2011680"/>
            <a:ext cx="27432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33007" y="1417320"/>
            <a:ext cx="2514600" cy="11887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0B0B"/>
                </a:solidFill>
                <a:latin typeface="Segoe UI"/>
              </a:rPr>
              <a:t>Per-subcarrier moments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mean, std, skew,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excess kurtosis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47607" y="2011680"/>
            <a:ext cx="27432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021927" y="1417320"/>
            <a:ext cx="2514600" cy="11887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0B0B"/>
                </a:solidFill>
                <a:latin typeface="Segoe UI"/>
              </a:rPr>
              <a:t>Feature vector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4 × 128 subcarriers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= 512 numbers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971800"/>
            <a:ext cx="10698480" cy="306324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108960"/>
            <a:ext cx="100584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350" b="1">
                <a:solidFill>
                  <a:srgbClr val="0B0B0B"/>
                </a:solidFill>
                <a:latin typeface="Segoe UI"/>
              </a:rPr>
              <a:t>The four moment formulas (per subcarrier, over all N amplitude samples in a clip):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520440"/>
            <a:ext cx="100584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Mean:  μ = (1/N) Σ xᵢ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Std dev (population):  σ = sqrt( (1/N) Σ (xᵢ − μ)² 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Skewness (Fisher–Pearson):  skew = (1/N) Σ (xᵢ − μ)³ / (σ³ + ε)  — asymmetry of the fade pattern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Excess kurtosis (Fisher):  kurt = (1/N) Σ (xᵢ − μ)⁴ / (σ⁴ + ε) − 3  — spikiness from motion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ε = 1e-6 guards divide-by-zero on constant subcarriers; resulting NaNs →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Pipeline &amp; Model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82296" cy="77724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2296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Segoe UI"/>
              </a:rPr>
              <a:t>HOME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Random Forest classifier + session vote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21208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300 decision trees, class_weight="balanced"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52514E"/>
                </a:solidFill>
                <a:latin typeface="Segoe UI"/>
              </a:rPr>
              <a:t>–  Bagging: each tree trains on an independent bootstrap resample of clips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52514E"/>
                </a:solidFill>
                <a:latin typeface="Segoe UI"/>
              </a:rPr>
              <a:t>–  Feature subsampling: each split only considers sqrt(512) random features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52514E"/>
                </a:solidFill>
                <a:latin typeface="Segoe UI"/>
              </a:rPr>
              <a:t>–  Split rule: Gini impurity reduction, Gini = 1 − Σ pₖ²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52514E"/>
                </a:solidFill>
                <a:latin typeface="Segoe UI"/>
              </a:rPr>
              <a:t>–  Prediction: majority vote across all 300 trees, per clip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No empty-room calibration needed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52514E"/>
                </a:solidFill>
                <a:latin typeface="Segoe UI"/>
              </a:rPr>
              <a:t>–  RF splits are threshold tests — invariant to affine (z-score) rescaling,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52514E"/>
                </a:solidFill>
                <a:latin typeface="Segoe UI"/>
              </a:rPr>
              <a:t>–  so raw clip moments are used directly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Session-level output = majority vote across all overlapping clips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52514E"/>
                </a:solidFill>
                <a:latin typeface="Segoe UI"/>
              </a:rPr>
              <a:t>–  smooths out noisy, correlated per-clip guesses, like averaging many weak estimates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280160"/>
            <a:ext cx="4937760" cy="448056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766560" y="1600200"/>
            <a:ext cx="4206240" cy="68580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512-d clip feature vector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869680" y="2286000"/>
            <a:ext cx="0" cy="27432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766560" y="2606040"/>
            <a:ext cx="4206240" cy="777240"/>
          </a:xfrm>
          <a:prstGeom prst="roundRect">
            <a:avLst>
              <a:gd name="adj" fmla="val 6000"/>
            </a:avLst>
          </a:prstGeom>
          <a:solidFill>
            <a:srgbClr val="1BAF7A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300 decision trees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bagging + random feature subsets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869680" y="3383280"/>
            <a:ext cx="0" cy="27432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766560" y="3703320"/>
            <a:ext cx="4206240" cy="64008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0B0B0B"/>
                </a:solidFill>
                <a:latin typeface="Segoe UI"/>
              </a:rPr>
              <a:t>per-clip prediction + confidence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869680" y="4343400"/>
            <a:ext cx="0" cy="27432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6766560" y="4663440"/>
            <a:ext cx="4206240" cy="685800"/>
          </a:xfrm>
          <a:prstGeom prst="roundRect">
            <a:avLst>
              <a:gd name="adj" fmla="val 6000"/>
            </a:avLst>
          </a:prstGeom>
          <a:solidFill>
            <a:srgbClr val="EB6834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session-level majority vote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Pipeline &amp; Model 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82296" cy="777240"/>
          </a:xfrm>
          <a:prstGeom prst="roundRect">
            <a:avLst>
              <a:gd name="adj" fmla="val 6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2296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EB6834"/>
                </a:solidFill>
                <a:latin typeface="Segoe UI"/>
              </a:rPr>
              <a:t>SIGNATURE MODEL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Preprocessing before the transformer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5167" y="1417320"/>
            <a:ext cx="2514600" cy="11887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0B0B"/>
                </a:solidFill>
                <a:latin typeface="Segoe UI"/>
              </a:rPr>
              <a:t>Session pool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Day3+Day4,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channel-6-only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69767" y="2011680"/>
            <a:ext cx="27432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44087" y="1417320"/>
            <a:ext cx="2514600" cy="11887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0B0B"/>
                </a:solidFill>
                <a:latin typeface="Segoe UI"/>
              </a:rPr>
              <a:t>Time normalization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resample to a common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packet rate (bin-average)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58687" y="2011680"/>
            <a:ext cx="27432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6233007" y="1417320"/>
            <a:ext cx="2514600" cy="11887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0B0B"/>
                </a:solidFill>
                <a:latin typeface="Segoe UI"/>
              </a:rPr>
              <a:t>Windowing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200-packet windows,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100-packet stride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747607" y="2011680"/>
            <a:ext cx="27432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021927" y="1417320"/>
            <a:ext cx="2514600" cy="11887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0B0B0B"/>
                </a:solidFill>
                <a:latin typeface="Segoe UI"/>
              </a:rPr>
              <a:t>No calibration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raw amplitude,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no empty-room z-score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063240"/>
            <a:ext cx="10698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>
                <a:solidFill>
                  <a:srgbClr val="0B0B0B"/>
                </a:solidFill>
                <a:latin typeface="Segoe UI"/>
              </a:rPr>
              <a:t>•  Why time-normalize: different sessions/days have slightly different native packet rates — without this a model could learn to distinguish sessions by packet density instead of CSI content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>
                <a:solidFill>
                  <a:srgbClr val="0B0B0B"/>
                </a:solidFill>
                <a:latin typeface="Segoe UI"/>
              </a:rPr>
              <a:t>•  Why windows, not moments: a transformer already has attention to summarize a sequence itself, so it is given the raw amplitude sequence rather than a hand-reduced feature vector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>
                <a:solidFill>
                  <a:srgbClr val="0B0B0B"/>
                </a:solidFill>
                <a:latin typeface="Segoe UI"/>
              </a:rPr>
              <a:t>•  Why no calibration: the reference project tested empty-room z-scoring for this contrastive setup and found it neutral-to-harmful — it let the model implicitly answer “is this authorized data” instead of learning identity signal directly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>
                <a:solidFill>
                  <a:srgbClr val="0B0B0B"/>
                </a:solidFill>
                <a:latin typeface="Segoe UI"/>
              </a:rPr>
              <a:t>•  Amplitude only, no phase — same reasoning as the home model (matches WhoFi's published design choice)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>
                <a:solidFill>
                  <a:srgbClr val="0B0B0B"/>
                </a:solidFill>
                <a:latin typeface="Segoe UI"/>
              </a:rPr>
              <a:t>•  Trained on all 8 recorded identities (anjali, barath + 6 strangers) so the open-set boundary has impostor examples to reject against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>
                <a:solidFill>
                  <a:srgbClr val="0B0B0B"/>
                </a:solidFill>
                <a:latin typeface="Segoe UI"/>
              </a:rPr>
              <a:t>•  Input shape to the encoder: (batch, T=200, n_subcarriers=128)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Pipeline &amp; Model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82296" cy="777240"/>
          </a:xfrm>
          <a:prstGeom prst="roundRect">
            <a:avLst>
              <a:gd name="adj" fmla="val 6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2296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EB6834"/>
                </a:solidFill>
                <a:latin typeface="Segoe UI"/>
              </a:rPr>
              <a:t>TRANSFORMER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BranchEncoder — how it consumes CSI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4300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Input: amplitude (B, T=200, S=128)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.0" y="1691640"/>
            <a:ext cx="0.0" cy="109728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31520" y="1801368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BAF7A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Linear projection:  128 → d_model=32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91840.0" y="2350008"/>
            <a:ext cx="0.0" cy="109728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" y="2459736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1BAF7A"/>
          </a:solidFill>
          <a:ln w="15875">
            <a:solidFill>
              <a:srgbClr val="1BA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+ Sinusoidal positional encoding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291840.0" y="3008376"/>
            <a:ext cx="0.0" cy="109728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731520" y="3118104"/>
            <a:ext cx="5120640" cy="749808"/>
          </a:xfrm>
          <a:prstGeom prst="roundRect">
            <a:avLst>
              <a:gd name="adj" fmla="val 6000"/>
            </a:avLst>
          </a:prstGeom>
          <a:solidFill>
            <a:srgbClr val="EB6834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Transformer encoder layer × 1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(self-attn → Add&amp;Norm → FFN → Add&amp;Norm)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291840.0" y="3867912"/>
            <a:ext cx="0.0" cy="109728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31520" y="3977640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4A3AA7"/>
          </a:solidFill>
          <a:ln w="15875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Mean-pool over time: (B,T,32) → (B,32)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291840.0" y="4526280"/>
            <a:ext cx="0.0" cy="109728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31520" y="4636008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4A3AA7"/>
          </a:solidFill>
          <a:ln w="15875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Linear 32→32, then L2-normalize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91840.0" y="5184648"/>
            <a:ext cx="0.0" cy="109728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1520" y="5294376"/>
            <a:ext cx="5120640" cy="54864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 bIns="50800"/>
          <a:lstStyle/>
          <a:p>
            <a:pPr algn="ctr"/>
            <a:r>
              <a:rPr sz="1200" b="1">
                <a:solidFill>
                  <a:srgbClr val="FFFFFF"/>
                </a:solidFill>
                <a:latin typeface="Segoe UI"/>
              </a:rPr>
              <a:t>Output: unit-norm signature (B, 32)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188720"/>
            <a:ext cx="5257800" cy="50749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46520" y="1325880"/>
            <a:ext cx="4709160" cy="3657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450" b="1">
                <a:solidFill>
                  <a:srgbClr val="0B0B0B"/>
                </a:solidFill>
                <a:latin typeface="Segoe UI"/>
              </a:rPr>
              <a:t>What each stage does to the CSI window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737360"/>
            <a:ext cx="47091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0B0B0B"/>
                </a:solidFill>
                <a:latin typeface="Segoe UI"/>
              </a:rPr>
              <a:t>•  Input projection — each packet's 128-subcarrier amplitude vector becomes one 32-dim “token”; 200 packets = 200 tokens in the sequence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0B0B0B"/>
                </a:solidFill>
                <a:latin typeface="Segoe UI"/>
              </a:rPr>
              <a:t>•  Positional encoding — attention has no notion of order by itself, so a sinusoidal pattern is added per position so the model can tell packet 1 from packet 150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0B0B0B"/>
                </a:solidFill>
                <a:latin typeface="Segoe UI"/>
              </a:rPr>
              <a:t>•  Self-attention — every packet-token looks at every other packet-token in the window and reweights itself by how relevant they are to each other (see next slide for the math)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0B0B0B"/>
                </a:solidFill>
                <a:latin typeface="Segoe UI"/>
              </a:rPr>
              <a:t>•  Feed-forward network — a small per-token MLP (32→64→32) applied identically to every token, adding non-linear capacity after attention mixes information across time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0B0B0B"/>
                </a:solidFill>
                <a:latin typeface="Segoe UI"/>
              </a:rPr>
              <a:t>•  Mean-pool — collapses the 200 refined tokens into a single 32-d vector per window, a simple parameter-free way to summarize a variable-length window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0B0B0B"/>
                </a:solidFill>
                <a:latin typeface="Segoe UI"/>
              </a:rPr>
              <a:t>•  L2-normalize — projects the embedding onto the unit hypersphere so distance and cosine similarity between two people's signatures become directly comparable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Pipeline &amp; Model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82296" cy="777240"/>
          </a:xfrm>
          <a:prstGeom prst="roundRect">
            <a:avLst>
              <a:gd name="adj" fmla="val 6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2296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EB6834"/>
                </a:solidFill>
                <a:latin typeface="Segoe UI"/>
              </a:rPr>
              <a:t>TRANSFORMER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Scaled dot-product multi-head self-attention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88720"/>
            <a:ext cx="10698480" cy="173736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25880"/>
            <a:ext cx="100584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400" b="1">
                <a:solidFill>
                  <a:srgbClr val="0B0B0B"/>
                </a:solidFill>
                <a:latin typeface="Segoe UI"/>
              </a:rPr>
              <a:t>Per head: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10058400" cy="5029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000" b="1">
                <a:solidFill>
                  <a:srgbClr val="2A78D6"/>
                </a:solidFill>
                <a:latin typeface="Segoe UI"/>
              </a:rPr>
              <a:t>Attention(Q, K, V) = softmax( Q Kᵀ / √d_k ) 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286000"/>
            <a:ext cx="10058400" cy="5486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Segoe UI"/>
              </a:rPr>
              <a:t>Q, K, V are learned linear projections of the 32-dim token sequence; d_k = d_model / n_heads = 32 / 4 = 8 here.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08960"/>
            <a:ext cx="5212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4 heads run this in parallel, then concatenate — each head can latch onto different subcarrier-amplitude relationships across the window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Post-LN block structure (this repo's default):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52514E"/>
                </a:solidFill>
                <a:latin typeface="Segoe UI"/>
              </a:rPr>
              <a:t>–  x = LayerNorm( x + Dropout( SelfAttention(x) ) )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52514E"/>
                </a:solidFill>
                <a:latin typeface="Segoe UI"/>
              </a:rPr>
              <a:t>–  x = LayerNorm( x + Dropout( FFN(x) ) 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d_model=32, 1 layer, 4 heads is deliberately small — both the WhoFi paper and the ESP32 person-ID paper found going deeper hurt on datasets this small (thousands of windows, not millions)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3108960"/>
            <a:ext cx="51663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Sinusoidal positional encoding, added elementwise to the projected input: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52514E"/>
                </a:solidFill>
                <a:latin typeface="Segoe UI"/>
              </a:rPr>
              <a:t>–  PE(pos, 2i)   = sin( pos / 10000^(2i/d_model) )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52514E"/>
                </a:solidFill>
                <a:latin typeface="Segoe UI"/>
              </a:rPr>
              <a:t>–  PE(pos, 2i+1) = cos( pos / 10000^(2i/d_model) 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L2 normalization at the output: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52514E"/>
                </a:solidFill>
                <a:latin typeface="Segoe UI"/>
              </a:rPr>
              <a:t>–  s = z / ‖z‖₂  →  ‖s‖ = 1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52514E"/>
                </a:solidFill>
                <a:latin typeface="Segoe UI"/>
              </a:rPr>
              <a:t>–  makes Euclidean distance and cosine similarity monotonically related: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52514E"/>
                </a:solidFill>
                <a:latin typeface="Segoe UI"/>
              </a:rPr>
              <a:t>–  ‖a−b‖² = 2 − 2·cos(a,b)  for unit vectors a,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Pipeline &amp; Model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82296" cy="777240"/>
          </a:xfrm>
          <a:prstGeom prst="roundRect">
            <a:avLst>
              <a:gd name="adj" fmla="val 6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2296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EB6834"/>
                </a:solidFill>
                <a:latin typeface="Segoe UI"/>
              </a:rPr>
              <a:t>TRAINING 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In-batch-negative contrastive loss (DPR / WhoFi-style)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2120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PK-sampling: every identity with ≥2 windows contributes one (query, gallery) pair per step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Query and gallery windows are drawn from different (date, motion) contexts when available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52514E"/>
                </a:solidFill>
                <a:latin typeface="Segoe UI"/>
              </a:rPr>
              <a:t>–  Why: a diagnostic found the encoder otherwise learning to separate recording-session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52514E"/>
                </a:solidFill>
                <a:latin typeface="Segoe UI"/>
              </a:rPr>
              <a:t>–  context instead of identity — forcing cross-context pairs makes the loss only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200">
                <a:solidFill>
                  <a:srgbClr val="52514E"/>
                </a:solidFill>
                <a:latin typeface="Segoe UI"/>
              </a:rPr>
              <a:t>–  satisfiable by identity signal that survives a context change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300">
                <a:solidFill>
                  <a:srgbClr val="0B0B0B"/>
                </a:solidFill>
                <a:latin typeface="Segoe UI"/>
              </a:rPr>
              <a:t>•  Loss (cosine-similarity matrix over the batch, cross-entropy on the diagonal):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251960"/>
            <a:ext cx="10698480" cy="1188720"/>
          </a:xfrm>
          <a:prstGeom prst="roundRect">
            <a:avLst>
              <a:gd name="adj" fmla="val 6000"/>
            </a:avLst>
          </a:prstGeom>
          <a:solidFill>
            <a:srgbClr val="FCFCFB"/>
          </a:solidFill>
          <a:ln w="12700">
            <a:solidFill>
              <a:srgbClr val="C3C2B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315968"/>
            <a:ext cx="10058400" cy="3657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2A78D6"/>
                </a:solidFill>
                <a:latin typeface="Segoe UI"/>
              </a:rPr>
              <a:t>sim = Sq · Sgᵀ  ∈  ℝ^(B×B)          (dot product of L2-normalized query/gallery batches)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4709160"/>
            <a:ext cx="10058400" cy="3657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500" b="1">
                <a:solidFill>
                  <a:srgbClr val="2A78D6"/>
                </a:solidFill>
                <a:latin typeface="Segoe UI"/>
              </a:rPr>
              <a:t>L = −(1/B) Σᵢ log( exp(simᵢᵢ) / Σⱼ exp(simᵢⱼ)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300" b="0">
                <a:solidFill>
                  <a:srgbClr val="52514E"/>
                </a:solidFill>
                <a:latin typeface="Segoe UI"/>
              </a:rPr>
              <a:t>Every other identity in the batch is a free “in-batch negative” — no separate negative-mining step needed. Adam optimizer, lr=1e-3, 300 epochs × 40 steps/epoch, seed=0.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Pipeline &amp; Model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82296" cy="777240"/>
          </a:xfrm>
          <a:prstGeom prst="roundRect">
            <a:avLst>
              <a:gd name="adj" fmla="val 6000"/>
            </a:avLst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2296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EB6834"/>
                </a:solidFill>
                <a:latin typeface="Segoe UI"/>
              </a:rPr>
              <a:t>OPEN-SET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Extreme Value Machine (EVM) turns embeddings into accept/reject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108960" cy="777240"/>
          </a:xfrm>
          <a:prstGeom prst="roundRect">
            <a:avLst>
              <a:gd name="adj" fmla="val 6000"/>
            </a:avLst>
          </a:prstGeom>
          <a:solidFill>
            <a:srgbClr val="4A3AA7"/>
          </a:solidFill>
          <a:ln w="15875">
            <a:solidFill>
              <a:srgbClr val="4A3A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Signature embedding (32-d)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unit hypersphere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840480" y="1623060"/>
            <a:ext cx="41148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297680" y="1234440"/>
            <a:ext cx="3291840" cy="777240"/>
          </a:xfrm>
          <a:prstGeom prst="roundRect">
            <a:avLst>
              <a:gd name="adj" fmla="val 6000"/>
            </a:avLst>
          </a:prstGeom>
          <a:solidFill>
            <a:srgbClr val="EB6834"/>
          </a:solidFill>
          <a:ln w="15875">
            <a:solidFill>
              <a:srgbClr val="EB68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Weibull tail per identity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fit on nearest-τ distances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589520" y="1623060"/>
            <a:ext cx="411480" cy="0"/>
          </a:xfrm>
          <a:prstGeom prst="line">
            <a:avLst/>
          </a:prstGeom>
          <a:ln w="19050">
            <a:solidFill>
              <a:srgbClr val="89878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8046720" y="1234440"/>
            <a:ext cx="3200400" cy="77724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 w="15875">
            <a:solidFill>
              <a:srgbClr val="2A78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ψ-score → accept/reject</a:t>
            </a:r>
          </a:p>
          <a:p>
            <a:pPr algn="ctr"/>
            <a:r>
              <a:rPr sz="1000">
                <a:solidFill>
                  <a:srgbClr val="52514E"/>
                </a:solidFill>
                <a:latin typeface="Segoe UI"/>
              </a:rPr>
              <a:t>threshold = 0.18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31720"/>
            <a:ext cx="106984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Why not a plain classifier: a closed-set softmax structurally cannot say “none of these” — measured 68.5% false-accept rate against a genuinely novel stranger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EVM idea (Extreme Value Theory): the distance from a point to another class's points behaves like an extreme-value statistic — modeled here as a Weibull tail per support point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Score: ψ(x, point) = exp( −(‖x − point‖ / λ)^k )  — the Weibull survival function, used as an inclusion/similarity score (1 at zero distance, decaying with distance)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This run uses centroid_only=True: each identity collapses to one centroid before fitting (per-point EVM was noisier with only ~289 points per identity)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Final accept score = top-5-averaged ψ across an identity's support points, max over enrolled identities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00">
                <a:solidFill>
                  <a:srgbClr val="0B0B0B"/>
                </a:solidFill>
                <a:latin typeface="Segoe UI"/>
              </a:rPr>
              <a:t>•  Honest result: mean AUROC ≈ 0.45 across held-out strangers — experimental, not deployed; the home model (Random Forest) remains the shipped path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Pipeline &amp; Model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82296" cy="777240"/>
          </a:xfrm>
          <a:prstGeom prst="roundRect">
            <a:avLst>
              <a:gd name="adj" fmla="val 6000"/>
            </a:avLst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2296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2A78D6"/>
                </a:solidFill>
                <a:latin typeface="Segoe U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Home Model vs Signature + EVM, side by side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234440"/>
          <a:ext cx="1069848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114800"/>
              </a:tblGrid>
              <a:tr h="62865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L="101600" marR="101600" marT="50800" marB="50800">
                    <a:solidFill>
                      <a:srgbClr val="11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Home Model (v2)</a:t>
                      </a:r>
                    </a:p>
                  </a:txBody>
                  <a:tcPr anchor="ctr" marL="101600" marR="101600" marT="50800" marB="50800">
                    <a:solidFill>
                      <a:srgbClr val="111E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Segoe UI"/>
                        </a:rPr>
                        <a:t>Signature + EVM</a:t>
                      </a:r>
                    </a:p>
                  </a:txBody>
                  <a:tcPr anchor="ctr" marL="101600" marR="101600" marT="50800" marB="50800">
                    <a:solidFill>
                      <a:srgbClr val="111E2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Task</a:t>
                      </a:r>
                    </a:p>
                  </a:txBody>
                  <a:tcPr anchor="ctr" marL="101600" marR="101600" marT="50800" marB="508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Closed 2-class ID (anjali/barath)</a:t>
                      </a:r>
                    </a:p>
                  </a:txBody>
                  <a:tcPr anchor="ctr" marL="101600" marR="101600" marT="50800" marB="508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Open-set accept/reject + ID</a:t>
                      </a:r>
                    </a:p>
                  </a:txBody>
                  <a:tcPr anchor="ctr" marL="101600" marR="101600" marT="50800" marB="50800">
                    <a:solidFill>
                      <a:srgbClr val="FCFC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Model</a:t>
                      </a:r>
                    </a:p>
                  </a:txBody>
                  <a:tcPr anchor="ctr" marL="101600" marR="101600" marT="50800" marB="50800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Random Forest (300 trees)</a:t>
                      </a:r>
                    </a:p>
                  </a:txBody>
                  <a:tcPr anchor="ctr" marL="101600" marR="101600" marT="50800" marB="50800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Transformer encoder (32-d) + Weibull/EVM</a:t>
                      </a:r>
                    </a:p>
                  </a:txBody>
                  <a:tcPr anchor="ctr" marL="101600" marR="101600" marT="50800" marB="50800">
                    <a:solidFill>
                      <a:srgbClr val="F9F9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Input to model</a:t>
                      </a:r>
                    </a:p>
                  </a:txBody>
                  <a:tcPr anchor="ctr" marL="101600" marR="101600" marT="50800" marB="508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512-d per-clip moment vector</a:t>
                      </a:r>
                    </a:p>
                  </a:txBody>
                  <a:tcPr anchor="ctr" marL="101600" marR="101600" marT="50800" marB="508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Raw (T=200, 128-sub) amplitude sequence</a:t>
                      </a:r>
                    </a:p>
                  </a:txBody>
                  <a:tcPr anchor="ctr" marL="101600" marR="101600" marT="50800" marB="50800">
                    <a:solidFill>
                      <a:srgbClr val="FCFC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Windowing</a:t>
                      </a:r>
                    </a:p>
                  </a:txBody>
                  <a:tcPr anchor="ctr" marL="101600" marR="101600" marT="50800" marB="50800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3 s clips / 1 s stride, 50% coverage gate</a:t>
                      </a:r>
                    </a:p>
                  </a:txBody>
                  <a:tcPr anchor="ctr" marL="101600" marR="101600" marT="50800" marB="50800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200-packet windows / 100-packet stride</a:t>
                      </a:r>
                    </a:p>
                  </a:txBody>
                  <a:tcPr anchor="ctr" marL="101600" marR="101600" marT="50800" marB="50800">
                    <a:solidFill>
                      <a:srgbClr val="F9F9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Calibration</a:t>
                      </a:r>
                    </a:p>
                  </a:txBody>
                  <a:tcPr anchor="ctr" marL="101600" marR="101600" marT="50800" marB="508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None (RF invariant to affine rescale)</a:t>
                      </a:r>
                    </a:p>
                  </a:txBody>
                  <a:tcPr anchor="ctr" marL="101600" marR="101600" marT="50800" marB="508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None (found harmful for this setup)</a:t>
                      </a:r>
                    </a:p>
                  </a:txBody>
                  <a:tcPr anchor="ctr" marL="101600" marR="101600" marT="50800" marB="50800">
                    <a:solidFill>
                      <a:srgbClr val="FCFCFB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Can say “unknown”?</a:t>
                      </a:r>
                    </a:p>
                  </a:txBody>
                  <a:tcPr anchor="ctr" marL="101600" marR="101600" marT="50800" marB="50800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anchor="ctr" marL="101600" marR="101600" marT="50800" marB="50800">
                    <a:solidFill>
                      <a:srgbClr val="F9F9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anchor="ctr" marL="101600" marR="101600" marT="50800" marB="50800">
                    <a:solidFill>
                      <a:srgbClr val="F9F9F7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B0B0B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anchor="ctr" marL="101600" marR="101600" marT="50800" marB="508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Deployed</a:t>
                      </a:r>
                    </a:p>
                  </a:txBody>
                  <a:tcPr anchor="ctr" marL="101600" marR="101600" marT="50800" marB="50800"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52514E"/>
                          </a:solidFill>
                          <a:latin typeface="Segoe UI"/>
                        </a:rPr>
                        <a:t>Experimental</a:t>
                      </a:r>
                    </a:p>
                  </a:txBody>
                  <a:tcPr anchor="ctr" marL="101600" marR="101600" marT="50800" marB="50800">
                    <a:solidFill>
                      <a:srgbClr val="FCFCFB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Pipeline &amp; Model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" y="320040"/>
            <a:ext cx="82296" cy="777240"/>
          </a:xfrm>
          <a:prstGeom prst="roundRect">
            <a:avLst>
              <a:gd name="adj" fmla="val 6000"/>
            </a:avLst>
          </a:prstGeom>
          <a:solidFill>
            <a:srgbClr val="E349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8229600" cy="32004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1200" b="1">
                <a:solidFill>
                  <a:srgbClr val="E34948"/>
                </a:solidFill>
                <a:latin typeface="Segoe UI"/>
              </a:rPr>
              <a:t>LIMITATIONS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698480" cy="59436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2600" b="1">
                <a:solidFill>
                  <a:srgbClr val="0B0B0B"/>
                </a:solidFill>
                <a:latin typeface="Segoe UI"/>
              </a:rPr>
              <a:t>What this pipeline does not do yet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>
                <a:solidFill>
                  <a:srgbClr val="0B0B0B"/>
                </a:solidFill>
                <a:latin typeface="Segoe UI"/>
              </a:rPr>
              <a:t>•  Home model only knows 2 people — a stranger still gets forced into anjali or barath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>
                <a:solidFill>
                  <a:srgbClr val="0B0B0B"/>
                </a:solidFill>
                <a:latin typeface="Segoe UI"/>
              </a:rPr>
              <a:t>•  Day3→Day4 was never isolated/cross-validated before v2 shipped — it pools both days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>
                <a:solidFill>
                  <a:srgbClr val="0B0B0B"/>
                </a:solidFill>
                <a:latin typeface="Segoe UI"/>
              </a:rPr>
              <a:t>•  Sensitive to WiFi channel — trained only on channel 6 / 20 MHz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>
                <a:solidFill>
                  <a:srgbClr val="0B0B0B"/>
                </a:solidFill>
                <a:latin typeface="Segoe UI"/>
              </a:rPr>
              <a:t>•  Signature+EVM false-accept rate is still too high for anything beyond experimentation</a:t>
            </a:r>
          </a:p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>
                <a:solidFill>
                  <a:srgbClr val="0B0B0B"/>
                </a:solidFill>
                <a:latin typeface="Segoe UI"/>
              </a:rPr>
              <a:t>•  No cross-day validation beyond Day3+Day4 for the signature model (no Day5 yet)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280160"/>
            <a:ext cx="5166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600"/>
              </a:spcAft>
            </a:pPr>
            <a:r>
              <a:rPr sz="1450">
                <a:solidFill>
                  <a:srgbClr val="0B0B0B"/>
                </a:solidFill>
                <a:latin typeface="Segoe UI"/>
              </a:rPr>
              <a:t>•  Documented next levers for EVM (not bugs, just not built yet):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52514E"/>
                </a:solidFill>
                <a:latin typeface="Segoe UI"/>
              </a:rPr>
              <a:t>–  Cohort / T-norm score normalization — biggest false-accept-rate reducer in the reference project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52514E"/>
                </a:solidFill>
                <a:latin typeface="Segoe UI"/>
              </a:rPr>
              <a:t>–  Per-identity EER thresholds instead of one global 0.18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52514E"/>
                </a:solidFill>
                <a:latin typeface="Segoe UI"/>
              </a:rPr>
              <a:t>–  Multi-seed ensembling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52514E"/>
                </a:solidFill>
                <a:latin typeface="Segoe UI"/>
              </a:rPr>
              <a:t>–  Walking-motion gating</a:t>
            </a:r>
          </a:p>
          <a:p>
            <a:pPr lvl="1">
              <a:lnSpc>
                <a:spcPct val="115000"/>
              </a:lnSpc>
              <a:spcAft>
                <a:spcPts val="600"/>
              </a:spcAft>
            </a:pPr>
            <a:r>
              <a:rPr sz="1350">
                <a:solidFill>
                  <a:srgbClr val="52514E"/>
                </a:solidFill>
                <a:latin typeface="Segoe UI"/>
              </a:rPr>
              <a:t>–  Temporal smoothing over consecutive windows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54864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l"/>
            <a:r>
              <a:rPr sz="900" b="0">
                <a:solidFill>
                  <a:srgbClr val="898781"/>
                </a:solidFill>
                <a:latin typeface="Segoe UI"/>
              </a:rPr>
              <a:t>WiFi-CSI Presence Collector — Pipeline &amp; Model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510528"/>
            <a:ext cx="457200" cy="274320"/>
          </a:xfrm>
          <a:prstGeom prst="rect">
            <a:avLst/>
          </a:prstGeom>
          <a:noFill/>
        </p:spPr>
        <p:txBody>
          <a:bodyPr wrap="square" anchor="t" lIns="76200" rIns="76200" tIns="50800" bIns="50800">
            <a:spAutoFit/>
          </a:bodyPr>
          <a:lstStyle/>
          <a:p>
            <a:pPr algn="r"/>
            <a:r>
              <a:rPr sz="900" b="0">
                <a:solidFill>
                  <a:srgbClr val="898781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